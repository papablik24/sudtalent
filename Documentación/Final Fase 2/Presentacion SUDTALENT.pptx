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arlow Bold Italics" charset="1" panose="00000800000000000000"/>
      <p:regular r:id="rId15"/>
    </p:embeddedFont>
    <p:embeddedFont>
      <p:font typeface="Barlow" charset="1" panose="00000500000000000000"/>
      <p:regular r:id="rId16"/>
    </p:embeddedFont>
    <p:embeddedFont>
      <p:font typeface="Horizon" charset="1" panose="02000500000000000000"/>
      <p:regular r:id="rId17"/>
    </p:embeddedFont>
    <p:embeddedFont>
      <p:font typeface="Barlow Italics" charset="1" panose="00000500000000000000"/>
      <p:regular r:id="rId18"/>
    </p:embeddedFont>
    <p:embeddedFont>
      <p:font typeface="Barlow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539" y="0"/>
            <a:ext cx="6841254" cy="10287000"/>
            <a:chOff x="0" y="0"/>
            <a:chExt cx="1059889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9889" cy="1593725"/>
            </a:xfrm>
            <a:custGeom>
              <a:avLst/>
              <a:gdLst/>
              <a:ahLst/>
              <a:cxnLst/>
              <a:rect r="r" b="b" t="t" l="l"/>
              <a:pathLst>
                <a:path h="1593725" w="1059889">
                  <a:moveTo>
                    <a:pt x="0" y="0"/>
                  </a:moveTo>
                  <a:lnTo>
                    <a:pt x="1059889" y="0"/>
                  </a:lnTo>
                  <a:lnTo>
                    <a:pt x="105988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09704" t="0" r="-1598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742911" y="174231"/>
            <a:ext cx="2403634" cy="600908"/>
          </a:xfrm>
          <a:custGeom>
            <a:avLst/>
            <a:gdLst/>
            <a:ahLst/>
            <a:cxnLst/>
            <a:rect r="r" b="b" t="t" l="l"/>
            <a:pathLst>
              <a:path h="600908" w="2403634">
                <a:moveTo>
                  <a:pt x="0" y="0"/>
                </a:moveTo>
                <a:lnTo>
                  <a:pt x="2403634" y="0"/>
                </a:lnTo>
                <a:lnTo>
                  <a:pt x="2403634" y="600908"/>
                </a:lnTo>
                <a:lnTo>
                  <a:pt x="0" y="600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62540" y="4168817"/>
            <a:ext cx="2974860" cy="2929076"/>
          </a:xfrm>
          <a:custGeom>
            <a:avLst/>
            <a:gdLst/>
            <a:ahLst/>
            <a:cxnLst/>
            <a:rect r="r" b="b" t="t" l="l"/>
            <a:pathLst>
              <a:path h="2929076" w="2974860">
                <a:moveTo>
                  <a:pt x="0" y="0"/>
                </a:moveTo>
                <a:lnTo>
                  <a:pt x="2974860" y="0"/>
                </a:lnTo>
                <a:lnTo>
                  <a:pt x="2974860" y="2929076"/>
                </a:lnTo>
                <a:lnTo>
                  <a:pt x="0" y="2929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66366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7215182" y="1717904"/>
            <a:ext cx="3117018" cy="0"/>
          </a:xfrm>
          <a:prstGeom prst="line">
            <a:avLst/>
          </a:pr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4921535" y="1698854"/>
            <a:ext cx="3023898" cy="0"/>
          </a:xfrm>
          <a:prstGeom prst="line">
            <a:avLst/>
          </a:pr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0773069" y="3756454"/>
            <a:ext cx="3753802" cy="375380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40616" y="82374"/>
                  </a:lnTo>
                  <a:lnTo>
                    <a:pt x="693768" y="119032"/>
                  </a:lnTo>
                  <a:lnTo>
                    <a:pt x="730427" y="272184"/>
                  </a:lnTo>
                  <a:lnTo>
                    <a:pt x="812800" y="406400"/>
                  </a:lnTo>
                  <a:lnTo>
                    <a:pt x="730427" y="540616"/>
                  </a:lnTo>
                  <a:lnTo>
                    <a:pt x="693768" y="693768"/>
                  </a:lnTo>
                  <a:lnTo>
                    <a:pt x="540616" y="730427"/>
                  </a:lnTo>
                  <a:lnTo>
                    <a:pt x="406400" y="812800"/>
                  </a:lnTo>
                  <a:lnTo>
                    <a:pt x="272184" y="730427"/>
                  </a:lnTo>
                  <a:lnTo>
                    <a:pt x="119032" y="693768"/>
                  </a:lnTo>
                  <a:lnTo>
                    <a:pt x="82374" y="540616"/>
                  </a:lnTo>
                  <a:lnTo>
                    <a:pt x="0" y="406400"/>
                  </a:lnTo>
                  <a:lnTo>
                    <a:pt x="82374" y="272184"/>
                  </a:lnTo>
                  <a:lnTo>
                    <a:pt x="119032" y="119032"/>
                  </a:lnTo>
                  <a:lnTo>
                    <a:pt x="272184" y="82374"/>
                  </a:lnTo>
                  <a:lnTo>
                    <a:pt x="406400" y="0"/>
                  </a:lnTo>
                  <a:close/>
                </a:path>
              </a:pathLst>
            </a:custGeom>
            <a:ln w="1905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120650"/>
              <a:ext cx="5334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526742" y="9119449"/>
            <a:ext cx="119859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b="true" sz="1500" i="true">
                <a:solidFill>
                  <a:srgbClr val="000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Integrantes: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26742" y="9665422"/>
            <a:ext cx="119859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Ricardo Frías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26742" y="9913720"/>
            <a:ext cx="119859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Pablo Novoa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744577" y="9117764"/>
            <a:ext cx="1421880" cy="784422"/>
            <a:chOff x="0" y="0"/>
            <a:chExt cx="1895840" cy="104589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19050"/>
              <a:ext cx="1317052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b="true" sz="1500" i="true">
                  <a:solidFill>
                    <a:srgbClr val="000000"/>
                  </a:solidFill>
                  <a:latin typeface="Barlow Bold Italics"/>
                  <a:ea typeface="Barlow Bold Italics"/>
                  <a:cs typeface="Barlow Bold Italics"/>
                  <a:sym typeface="Barlow Bold Italics"/>
                </a:rPr>
                <a:t>Docente: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722046"/>
              <a:ext cx="189584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000000"/>
                  </a:solidFill>
                  <a:latin typeface="Barlow"/>
                  <a:ea typeface="Barlow"/>
                  <a:cs typeface="Barlow"/>
                  <a:sym typeface="Barlow"/>
                </a:rPr>
                <a:t>Arturo Vargas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665953" y="9119449"/>
            <a:ext cx="127947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  <a:spcBef>
                <a:spcPct val="0"/>
              </a:spcBef>
            </a:pPr>
            <a:r>
              <a:rPr lang="en-US" b="true" sz="1500" i="true">
                <a:solidFill>
                  <a:srgbClr val="000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F</a:t>
            </a:r>
            <a:r>
              <a:rPr lang="en-US" b="true" sz="1500" i="true">
                <a:solidFill>
                  <a:srgbClr val="000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echa: </a:t>
            </a:r>
          </a:p>
          <a:p>
            <a:pPr algn="l">
              <a:lnSpc>
                <a:spcPts val="2025"/>
              </a:lnSpc>
              <a:spcBef>
                <a:spcPct val="0"/>
              </a:spcBef>
            </a:pPr>
          </a:p>
          <a:p>
            <a:pPr algn="l">
              <a:lnSpc>
                <a:spcPts val="202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06.04.2026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62890" y="9119449"/>
            <a:ext cx="190357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  <a:spcBef>
                <a:spcPct val="0"/>
              </a:spcBef>
            </a:pPr>
            <a:r>
              <a:rPr lang="en-US" b="true" sz="1500" i="true">
                <a:solidFill>
                  <a:srgbClr val="000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Asignatura: </a:t>
            </a:r>
          </a:p>
          <a:p>
            <a:pPr algn="l">
              <a:lnSpc>
                <a:spcPts val="2025"/>
              </a:lnSpc>
              <a:spcBef>
                <a:spcPct val="0"/>
              </a:spcBef>
            </a:pPr>
          </a:p>
          <a:p>
            <a:pPr algn="l">
              <a:lnSpc>
                <a:spcPts val="202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Taller de Programación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13331" y="9119449"/>
            <a:ext cx="762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  <a:spcBef>
                <a:spcPct val="0"/>
              </a:spcBef>
            </a:pPr>
            <a:r>
              <a:rPr lang="en-US" b="true" sz="1500" i="true">
                <a:solidFill>
                  <a:srgbClr val="000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Sección</a:t>
            </a:r>
            <a:r>
              <a:rPr lang="en-US" b="true" sz="1500" i="true">
                <a:solidFill>
                  <a:srgbClr val="000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: </a:t>
            </a:r>
          </a:p>
          <a:p>
            <a:pPr algn="l">
              <a:lnSpc>
                <a:spcPts val="2025"/>
              </a:lnSpc>
              <a:spcBef>
                <a:spcPct val="0"/>
              </a:spcBef>
            </a:pPr>
          </a:p>
          <a:p>
            <a:pPr algn="l">
              <a:lnSpc>
                <a:spcPts val="202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001D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44115" y="2251304"/>
            <a:ext cx="1022960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50"/>
              </a:lnSpc>
            </a:pPr>
            <a:r>
              <a:rPr lang="en-US" sz="50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SudTalent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93041" y="3013304"/>
            <a:ext cx="702611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Pla</a:t>
            </a:r>
            <a:r>
              <a:rPr lang="en-US" sz="20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taforma digital para la gestión de convocatorias y talento vocal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45004" y="1498829"/>
            <a:ext cx="416372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Proyecto de título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77607" y="7642234"/>
            <a:ext cx="454472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SUDAMERICAN VOICES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ln w="28575" cap="sq">
              <a:solidFill>
                <a:srgbClr val="FFC7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81659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-4339186" y="-134238"/>
            <a:ext cx="14232485" cy="11439360"/>
          </a:xfrm>
          <a:custGeom>
            <a:avLst/>
            <a:gdLst/>
            <a:ahLst/>
            <a:cxnLst/>
            <a:rect r="r" b="b" t="t" l="l"/>
            <a:pathLst>
              <a:path h="11439360" w="14232485">
                <a:moveTo>
                  <a:pt x="0" y="0"/>
                </a:moveTo>
                <a:lnTo>
                  <a:pt x="14232485" y="0"/>
                </a:lnTo>
                <a:lnTo>
                  <a:pt x="14232485" y="11439360"/>
                </a:lnTo>
                <a:lnTo>
                  <a:pt x="0" y="11439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1719441" y="5548257"/>
            <a:ext cx="8587179" cy="0"/>
          </a:xfrm>
          <a:prstGeom prst="line">
            <a:avLst/>
          </a:prstGeom>
          <a:ln cap="flat" w="19050">
            <a:solidFill>
              <a:srgbClr val="FFC7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901553" y="5036214"/>
            <a:ext cx="405067" cy="398833"/>
          </a:xfrm>
          <a:custGeom>
            <a:avLst/>
            <a:gdLst/>
            <a:ahLst/>
            <a:cxnLst/>
            <a:rect r="r" b="b" t="t" l="l"/>
            <a:pathLst>
              <a:path h="398833" w="405067">
                <a:moveTo>
                  <a:pt x="0" y="0"/>
                </a:moveTo>
                <a:lnTo>
                  <a:pt x="405067" y="0"/>
                </a:lnTo>
                <a:lnTo>
                  <a:pt x="405067" y="398833"/>
                </a:lnTo>
                <a:lnTo>
                  <a:pt x="0" y="398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66366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009615" y="0"/>
            <a:ext cx="4609900" cy="10287000"/>
            <a:chOff x="0" y="0"/>
            <a:chExt cx="6146533" cy="13716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146533" cy="13716000"/>
              <a:chOff x="0" y="0"/>
              <a:chExt cx="1214130" cy="270933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14130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1214130">
                    <a:moveTo>
                      <a:pt x="0" y="0"/>
                    </a:moveTo>
                    <a:lnTo>
                      <a:pt x="1214130" y="0"/>
                    </a:lnTo>
                    <a:lnTo>
                      <a:pt x="1214130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FFC74C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9050"/>
                <a:ext cx="1214130" cy="27283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5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823333" y="5180014"/>
              <a:ext cx="3432175" cy="4462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29"/>
                </a:lnSpc>
              </a:pPr>
              <a:r>
                <a:rPr lang="en-US" b="true" sz="1799" i="true">
                  <a:solidFill>
                    <a:srgbClr val="FFFFFF"/>
                  </a:solidFill>
                  <a:latin typeface="Barlow Bold Italics"/>
                  <a:ea typeface="Barlow Bold Italics"/>
                  <a:cs typeface="Barlow Bold Italics"/>
                  <a:sym typeface="Barlow Bold Italics"/>
                </a:rPr>
                <a:t>Contexto del Cliente</a:t>
              </a:r>
            </a:p>
            <a:p>
              <a:pPr algn="l">
                <a:lnSpc>
                  <a:spcPts val="2429"/>
                </a:lnSpc>
              </a:pPr>
            </a:p>
            <a:p>
              <a:pPr algn="l">
                <a:lnSpc>
                  <a:spcPts val="2429"/>
                </a:lnSpc>
              </a:pPr>
              <a:r>
                <a:rPr lang="en-US" b="true" sz="1799" i="true">
                  <a:solidFill>
                    <a:srgbClr val="FFFFFF"/>
                  </a:solidFill>
                  <a:latin typeface="Barlow Bold Italics"/>
                  <a:ea typeface="Barlow Bold Italics"/>
                  <a:cs typeface="Barlow Bold Italics"/>
                  <a:sym typeface="Barlow Bold Italics"/>
                </a:rPr>
                <a:t>Problemática Identificada</a:t>
              </a:r>
            </a:p>
            <a:p>
              <a:pPr algn="l">
                <a:lnSpc>
                  <a:spcPts val="2429"/>
                </a:lnSpc>
              </a:pPr>
            </a:p>
            <a:p>
              <a:pPr algn="l">
                <a:lnSpc>
                  <a:spcPts val="2429"/>
                </a:lnSpc>
              </a:pPr>
              <a:r>
                <a:rPr lang="en-US" b="true" sz="1799" i="true">
                  <a:solidFill>
                    <a:srgbClr val="FFFFFF"/>
                  </a:solidFill>
                  <a:latin typeface="Barlow Bold Italics"/>
                  <a:ea typeface="Barlow Bold Italics"/>
                  <a:cs typeface="Barlow Bold Italics"/>
                  <a:sym typeface="Barlow Bold Italics"/>
                </a:rPr>
                <a:t>Análisis Visual</a:t>
              </a:r>
            </a:p>
            <a:p>
              <a:pPr algn="l">
                <a:lnSpc>
                  <a:spcPts val="2429"/>
                </a:lnSpc>
              </a:pPr>
            </a:p>
            <a:p>
              <a:pPr algn="l">
                <a:lnSpc>
                  <a:spcPts val="2429"/>
                </a:lnSpc>
              </a:pPr>
              <a:r>
                <a:rPr lang="en-US" b="true" sz="1799" i="true">
                  <a:solidFill>
                    <a:srgbClr val="FFFFFF"/>
                  </a:solidFill>
                  <a:latin typeface="Barlow Bold Italics"/>
                  <a:ea typeface="Barlow Bold Italics"/>
                  <a:cs typeface="Barlow Bold Italics"/>
                  <a:sym typeface="Barlow Bold Italics"/>
                </a:rPr>
                <a:t>Objetivos del Proyecto</a:t>
              </a:r>
            </a:p>
            <a:p>
              <a:pPr algn="l">
                <a:lnSpc>
                  <a:spcPts val="2429"/>
                </a:lnSpc>
              </a:pPr>
            </a:p>
            <a:p>
              <a:pPr algn="l">
                <a:lnSpc>
                  <a:spcPts val="2429"/>
                </a:lnSpc>
              </a:pPr>
              <a:r>
                <a:rPr lang="en-US" b="true" sz="1799" i="true">
                  <a:solidFill>
                    <a:srgbClr val="FFFFFF"/>
                  </a:solidFill>
                  <a:latin typeface="Barlow Bold Italics"/>
                  <a:ea typeface="Barlow Bold Italics"/>
                  <a:cs typeface="Barlow Bold Italics"/>
                  <a:sym typeface="Barlow Bold Italics"/>
                </a:rPr>
                <a:t>Propuesta de Solución</a:t>
              </a:r>
            </a:p>
            <a:p>
              <a:pPr algn="l">
                <a:lnSpc>
                  <a:spcPts val="2429"/>
                </a:lnSpc>
              </a:pPr>
            </a:p>
            <a:p>
              <a:pPr algn="l">
                <a:lnSpc>
                  <a:spcPts val="2429"/>
                </a:lnSpc>
              </a:pPr>
              <a:r>
                <a:rPr lang="en-US" b="true" sz="1799" i="true">
                  <a:solidFill>
                    <a:srgbClr val="FFFFFF"/>
                  </a:solidFill>
                  <a:latin typeface="Barlow Bold Italics"/>
                  <a:ea typeface="Barlow Bold Italics"/>
                  <a:cs typeface="Barlow Bold Italics"/>
                  <a:sym typeface="Barlow Bold Italics"/>
                </a:rPr>
                <a:t>Cierre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702650" y="5180014"/>
              <a:ext cx="349462" cy="398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9"/>
                </a:lnSpc>
                <a:spcBef>
                  <a:spcPct val="0"/>
                </a:spcBef>
              </a:pPr>
              <a:r>
                <a:rPr lang="en-US" b="true" sz="1799" i="true">
                  <a:solidFill>
                    <a:srgbClr val="FFFFFF"/>
                  </a:solidFill>
                  <a:latin typeface="Barlow Bold Italics"/>
                  <a:ea typeface="Barlow Bold Italics"/>
                  <a:cs typeface="Barlow Bold Italics"/>
                  <a:sym typeface="Barlow Bold Italics"/>
                </a:rPr>
                <a:t>01.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38303" y="6032778"/>
              <a:ext cx="413808" cy="398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9"/>
                </a:lnSpc>
                <a:spcBef>
                  <a:spcPct val="0"/>
                </a:spcBef>
              </a:pPr>
              <a:r>
                <a:rPr lang="en-US" b="true" sz="1799" i="true">
                  <a:solidFill>
                    <a:srgbClr val="FFFFFF"/>
                  </a:solidFill>
                  <a:latin typeface="Barlow Bold Italics"/>
                  <a:ea typeface="Barlow Bold Italics"/>
                  <a:cs typeface="Barlow Bold Italics"/>
                  <a:sym typeface="Barlow Bold Italics"/>
                </a:rPr>
                <a:t>02.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702650" y="6823625"/>
              <a:ext cx="407670" cy="398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9"/>
                </a:lnSpc>
                <a:spcBef>
                  <a:spcPct val="0"/>
                </a:spcBef>
              </a:pPr>
              <a:r>
                <a:rPr lang="en-US" b="true" sz="1799" i="true">
                  <a:solidFill>
                    <a:srgbClr val="FFFFFF"/>
                  </a:solidFill>
                  <a:latin typeface="Barlow Bold Italics"/>
                  <a:ea typeface="Barlow Bold Italics"/>
                  <a:cs typeface="Barlow Bold Italics"/>
                  <a:sym typeface="Barlow Bold Italics"/>
                </a:rPr>
                <a:t>03.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63809" y="7616105"/>
              <a:ext cx="427143" cy="398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9"/>
                </a:lnSpc>
                <a:spcBef>
                  <a:spcPct val="0"/>
                </a:spcBef>
              </a:pPr>
              <a:r>
                <a:rPr lang="en-US" b="true" sz="1799" i="true">
                  <a:solidFill>
                    <a:srgbClr val="FFFFFF"/>
                  </a:solidFill>
                  <a:latin typeface="Barlow Bold Italics"/>
                  <a:ea typeface="Barlow Bold Italics"/>
                  <a:cs typeface="Barlow Bold Italics"/>
                  <a:sym typeface="Barlow Bold Italics"/>
                </a:rPr>
                <a:t>04.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73651" y="8408585"/>
              <a:ext cx="407458" cy="398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9"/>
                </a:lnSpc>
                <a:spcBef>
                  <a:spcPct val="0"/>
                </a:spcBef>
              </a:pPr>
              <a:r>
                <a:rPr lang="en-US" b="true" sz="1799" i="true">
                  <a:solidFill>
                    <a:srgbClr val="FFFFFF"/>
                  </a:solidFill>
                  <a:latin typeface="Barlow Bold Italics"/>
                  <a:ea typeface="Barlow Bold Italics"/>
                  <a:cs typeface="Barlow Bold Italics"/>
                  <a:sym typeface="Barlow Bold Italics"/>
                </a:rPr>
                <a:t>05.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41690" y="9264566"/>
              <a:ext cx="407035" cy="398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9"/>
                </a:lnSpc>
                <a:spcBef>
                  <a:spcPct val="0"/>
                </a:spcBef>
              </a:pPr>
              <a:r>
                <a:rPr lang="en-US" b="true" sz="1799" i="true">
                  <a:solidFill>
                    <a:srgbClr val="FFFFFF"/>
                  </a:solidFill>
                  <a:latin typeface="Barlow Bold Italics"/>
                  <a:ea typeface="Barlow Bold Italics"/>
                  <a:cs typeface="Barlow Bold Italics"/>
                  <a:sym typeface="Barlow Bold Italics"/>
                </a:rPr>
                <a:t>06.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19441" y="4960014"/>
            <a:ext cx="264073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  <a:spcBef>
                <a:spcPct val="0"/>
              </a:spcBef>
            </a:pPr>
            <a:r>
              <a:rPr lang="en-US" sz="2999">
                <a:solidFill>
                  <a:srgbClr val="FFC74C"/>
                </a:solidFill>
                <a:latin typeface="Horizon"/>
                <a:ea typeface="Horizon"/>
                <a:cs typeface="Horizon"/>
                <a:sym typeface="Horizon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ln w="28575" cap="sq">
              <a:solidFill>
                <a:srgbClr val="0C3A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81659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2779" y="3137293"/>
            <a:ext cx="7847579" cy="1556086"/>
            <a:chOff x="0" y="0"/>
            <a:chExt cx="2066852" cy="4098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66852" cy="409833"/>
            </a:xfrm>
            <a:custGeom>
              <a:avLst/>
              <a:gdLst/>
              <a:ahLst/>
              <a:cxnLst/>
              <a:rect r="r" b="b" t="t" l="l"/>
              <a:pathLst>
                <a:path h="409833" w="2066852">
                  <a:moveTo>
                    <a:pt x="0" y="0"/>
                  </a:moveTo>
                  <a:lnTo>
                    <a:pt x="2066852" y="0"/>
                  </a:lnTo>
                  <a:lnTo>
                    <a:pt x="2066852" y="409833"/>
                  </a:lnTo>
                  <a:lnTo>
                    <a:pt x="0" y="409833"/>
                  </a:lnTo>
                  <a:close/>
                </a:path>
              </a:pathLst>
            </a:custGeom>
            <a:solidFill>
              <a:srgbClr val="00199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66852" cy="428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12779" y="5036278"/>
            <a:ext cx="7847579" cy="2761375"/>
            <a:chOff x="0" y="0"/>
            <a:chExt cx="2066852" cy="7272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66852" cy="727276"/>
            </a:xfrm>
            <a:custGeom>
              <a:avLst/>
              <a:gdLst/>
              <a:ahLst/>
              <a:cxnLst/>
              <a:rect r="r" b="b" t="t" l="l"/>
              <a:pathLst>
                <a:path h="727276" w="2066852">
                  <a:moveTo>
                    <a:pt x="0" y="0"/>
                  </a:moveTo>
                  <a:lnTo>
                    <a:pt x="2066852" y="0"/>
                  </a:lnTo>
                  <a:lnTo>
                    <a:pt x="2066852" y="727276"/>
                  </a:lnTo>
                  <a:lnTo>
                    <a:pt x="0" y="727276"/>
                  </a:lnTo>
                  <a:close/>
                </a:path>
              </a:pathLst>
            </a:custGeom>
            <a:ln w="19050" cap="sq">
              <a:solidFill>
                <a:srgbClr val="00199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066852" cy="746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2496" y="5494606"/>
            <a:ext cx="6916145" cy="1861488"/>
            <a:chOff x="0" y="0"/>
            <a:chExt cx="9221527" cy="24819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70709" cy="844954"/>
            </a:xfrm>
            <a:custGeom>
              <a:avLst/>
              <a:gdLst/>
              <a:ahLst/>
              <a:cxnLst/>
              <a:rect r="r" b="b" t="t" l="l"/>
              <a:pathLst>
                <a:path h="844954" w="870709">
                  <a:moveTo>
                    <a:pt x="0" y="0"/>
                  </a:moveTo>
                  <a:lnTo>
                    <a:pt x="870709" y="0"/>
                  </a:lnTo>
                  <a:lnTo>
                    <a:pt x="870709" y="844954"/>
                  </a:lnTo>
                  <a:lnTo>
                    <a:pt x="0" y="844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61087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938508" y="45922"/>
              <a:ext cx="2135334" cy="362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Horizon"/>
                  <a:ea typeface="Horizon"/>
                  <a:cs typeface="Horizon"/>
                  <a:sym typeface="Horizon"/>
                </a:rPr>
                <a:t>sud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938508" y="403427"/>
              <a:ext cx="1115973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5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0000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DOBLAJE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6147685" y="0"/>
              <a:ext cx="860297" cy="844954"/>
            </a:xfrm>
            <a:custGeom>
              <a:avLst/>
              <a:gdLst/>
              <a:ahLst/>
              <a:cxnLst/>
              <a:rect r="r" b="b" t="t" l="l"/>
              <a:pathLst>
                <a:path h="844954" w="860297">
                  <a:moveTo>
                    <a:pt x="0" y="0"/>
                  </a:moveTo>
                  <a:lnTo>
                    <a:pt x="860297" y="0"/>
                  </a:lnTo>
                  <a:lnTo>
                    <a:pt x="860297" y="844954"/>
                  </a:lnTo>
                  <a:lnTo>
                    <a:pt x="0" y="844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65456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7086193" y="45922"/>
              <a:ext cx="2135334" cy="362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Horizon"/>
                  <a:ea typeface="Horizon"/>
                  <a:cs typeface="Horizon"/>
                  <a:sym typeface="Horizon"/>
                </a:rPr>
                <a:t>sud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7092811" y="389457"/>
              <a:ext cx="1061049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5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DE59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STUDIOS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3073842" y="0"/>
              <a:ext cx="863678" cy="844954"/>
            </a:xfrm>
            <a:custGeom>
              <a:avLst/>
              <a:gdLst/>
              <a:ahLst/>
              <a:cxnLst/>
              <a:rect r="r" b="b" t="t" l="l"/>
              <a:pathLst>
                <a:path h="844954" w="863678">
                  <a:moveTo>
                    <a:pt x="0" y="0"/>
                  </a:moveTo>
                  <a:lnTo>
                    <a:pt x="863678" y="0"/>
                  </a:lnTo>
                  <a:lnTo>
                    <a:pt x="863678" y="844954"/>
                  </a:lnTo>
                  <a:lnTo>
                    <a:pt x="0" y="844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6402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4012350" y="45922"/>
              <a:ext cx="2135334" cy="362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Horizon"/>
                  <a:ea typeface="Horizon"/>
                  <a:cs typeface="Horizon"/>
                  <a:sym typeface="Horizon"/>
                </a:rPr>
                <a:t>sud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020379" y="403427"/>
              <a:ext cx="1099916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5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2AD000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PODCAST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4467790" y="1637030"/>
              <a:ext cx="893606" cy="844954"/>
            </a:xfrm>
            <a:custGeom>
              <a:avLst/>
              <a:gdLst/>
              <a:ahLst/>
              <a:cxnLst/>
              <a:rect r="r" b="b" t="t" l="l"/>
              <a:pathLst>
                <a:path h="844954" w="893606">
                  <a:moveTo>
                    <a:pt x="0" y="0"/>
                  </a:moveTo>
                  <a:lnTo>
                    <a:pt x="893606" y="0"/>
                  </a:lnTo>
                  <a:lnTo>
                    <a:pt x="893606" y="844954"/>
                  </a:lnTo>
                  <a:lnTo>
                    <a:pt x="0" y="844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51834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5406298" y="1682952"/>
              <a:ext cx="2135334" cy="362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Horizon"/>
                  <a:ea typeface="Horizon"/>
                  <a:cs typeface="Horizon"/>
                  <a:sym typeface="Horizon"/>
                </a:rPr>
                <a:t>sud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420728" y="2026487"/>
              <a:ext cx="547463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5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751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KIDS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1265469" y="1637030"/>
              <a:ext cx="864823" cy="844954"/>
            </a:xfrm>
            <a:custGeom>
              <a:avLst/>
              <a:gdLst/>
              <a:ahLst/>
              <a:cxnLst/>
              <a:rect r="r" b="b" t="t" l="l"/>
              <a:pathLst>
                <a:path h="844954" w="864823">
                  <a:moveTo>
                    <a:pt x="0" y="0"/>
                  </a:moveTo>
                  <a:lnTo>
                    <a:pt x="864823" y="0"/>
                  </a:lnTo>
                  <a:lnTo>
                    <a:pt x="864823" y="844954"/>
                  </a:lnTo>
                  <a:lnTo>
                    <a:pt x="0" y="844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6354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2203977" y="1682952"/>
              <a:ext cx="2135334" cy="362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Horizon"/>
                  <a:ea typeface="Horizon"/>
                  <a:cs typeface="Horizon"/>
                  <a:sym typeface="Horizon"/>
                </a:rPr>
                <a:t>sud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214718" y="2040457"/>
              <a:ext cx="1194524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5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5E17EB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LOCUCIÓN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12779" y="8144553"/>
            <a:ext cx="7847579" cy="1668252"/>
            <a:chOff x="0" y="0"/>
            <a:chExt cx="2066852" cy="4393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66852" cy="439375"/>
            </a:xfrm>
            <a:custGeom>
              <a:avLst/>
              <a:gdLst/>
              <a:ahLst/>
              <a:cxnLst/>
              <a:rect r="r" b="b" t="t" l="l"/>
              <a:pathLst>
                <a:path h="439375" w="2066852">
                  <a:moveTo>
                    <a:pt x="0" y="0"/>
                  </a:moveTo>
                  <a:lnTo>
                    <a:pt x="2066852" y="0"/>
                  </a:lnTo>
                  <a:lnTo>
                    <a:pt x="2066852" y="439375"/>
                  </a:lnTo>
                  <a:lnTo>
                    <a:pt x="0" y="439375"/>
                  </a:lnTo>
                  <a:close/>
                </a:path>
              </a:pathLst>
            </a:custGeom>
            <a:solidFill>
              <a:srgbClr val="00199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066852" cy="45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sp>
        <p:nvSpPr>
          <p:cNvPr name="AutoShape 30" id="30"/>
          <p:cNvSpPr/>
          <p:nvPr/>
        </p:nvSpPr>
        <p:spPr>
          <a:xfrm>
            <a:off x="612779" y="1243013"/>
            <a:ext cx="8827879" cy="0"/>
          </a:xfrm>
          <a:prstGeom prst="line">
            <a:avLst/>
          </a:prstGeom>
          <a:ln cap="flat" w="19050">
            <a:solidFill>
              <a:srgbClr val="001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9035592" y="734753"/>
            <a:ext cx="405067" cy="398833"/>
          </a:xfrm>
          <a:custGeom>
            <a:avLst/>
            <a:gdLst/>
            <a:ahLst/>
            <a:cxnLst/>
            <a:rect r="r" b="b" t="t" l="l"/>
            <a:pathLst>
              <a:path h="398833" w="405067">
                <a:moveTo>
                  <a:pt x="0" y="0"/>
                </a:moveTo>
                <a:lnTo>
                  <a:pt x="405066" y="0"/>
                </a:lnTo>
                <a:lnTo>
                  <a:pt x="405066" y="398833"/>
                </a:lnTo>
                <a:lnTo>
                  <a:pt x="0" y="398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66366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878682" y="4239608"/>
            <a:ext cx="2631052" cy="3116486"/>
          </a:xfrm>
          <a:custGeom>
            <a:avLst/>
            <a:gdLst/>
            <a:ahLst/>
            <a:cxnLst/>
            <a:rect r="r" b="b" t="t" l="l"/>
            <a:pathLst>
              <a:path h="3116486" w="2631052">
                <a:moveTo>
                  <a:pt x="0" y="0"/>
                </a:moveTo>
                <a:lnTo>
                  <a:pt x="2631052" y="0"/>
                </a:lnTo>
                <a:lnTo>
                  <a:pt x="2631052" y="3116486"/>
                </a:lnTo>
                <a:lnTo>
                  <a:pt x="0" y="31164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440658" y="7694020"/>
            <a:ext cx="3277994" cy="2118784"/>
          </a:xfrm>
          <a:custGeom>
            <a:avLst/>
            <a:gdLst/>
            <a:ahLst/>
            <a:cxnLst/>
            <a:rect r="r" b="b" t="t" l="l"/>
            <a:pathLst>
              <a:path h="2118784" w="3277994">
                <a:moveTo>
                  <a:pt x="0" y="0"/>
                </a:moveTo>
                <a:lnTo>
                  <a:pt x="3277994" y="0"/>
                </a:lnTo>
                <a:lnTo>
                  <a:pt x="3277994" y="2118785"/>
                </a:lnTo>
                <a:lnTo>
                  <a:pt x="0" y="2118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8030" r="0" b="-45358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612779" y="634132"/>
            <a:ext cx="654026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9"/>
              </a:lnSpc>
              <a:spcBef>
                <a:spcPct val="0"/>
              </a:spcBef>
            </a:pPr>
            <a:r>
              <a:rPr lang="en-US" sz="2999">
                <a:solidFill>
                  <a:srgbClr val="001999"/>
                </a:solidFill>
                <a:latin typeface="Horizon"/>
                <a:ea typeface="Horizon"/>
                <a:cs typeface="Horizon"/>
                <a:sym typeface="Horizon"/>
              </a:rPr>
              <a:t>CONTEXTO DE CLIENTE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8787" y="3437180"/>
            <a:ext cx="6995563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2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Sudamerican Voices es una escuela y estudio profesional de voz, que cuenta con 5 casas, tales como el Doblaje, Locución, Podcast &amp; Streaming, Voice Acting  y Producción Audiovisual.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345512" y="1871416"/>
            <a:ext cx="3537917" cy="183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2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La oportunidad detectada se relaciona con la necesidad de ordenar y centralizar la búsqueda, postulación y gestión de talento vocal dentro de su ecosistema, conectando más con la comunidad.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247926" y="4366736"/>
            <a:ext cx="15622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2000">
                <a:solidFill>
                  <a:srgbClr val="001999"/>
                </a:solidFill>
                <a:latin typeface="Horizon"/>
                <a:ea typeface="Horizon"/>
                <a:cs typeface="Horizon"/>
                <a:sym typeface="Horizon"/>
              </a:rPr>
              <a:t>Misión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247926" y="7063264"/>
            <a:ext cx="15622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2000">
                <a:solidFill>
                  <a:srgbClr val="001999"/>
                </a:solidFill>
                <a:latin typeface="Horizon"/>
                <a:ea typeface="Horizon"/>
                <a:cs typeface="Horizon"/>
                <a:sym typeface="Horizon"/>
              </a:rPr>
              <a:t>Visión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247926" y="4990624"/>
            <a:ext cx="3824624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29"/>
              </a:lnSpc>
              <a:spcBef>
                <a:spcPct val="0"/>
              </a:spcBef>
            </a:pPr>
            <a:r>
              <a:rPr lang="en-US" sz="1799">
                <a:solidFill>
                  <a:srgbClr val="001999"/>
                </a:solidFill>
                <a:latin typeface="Barlow"/>
                <a:ea typeface="Barlow"/>
                <a:cs typeface="Barlow"/>
                <a:sym typeface="Barlow"/>
              </a:rPr>
              <a:t>Dar vida a las palabras, conectar emociones y crear conexiones inolvidables a través del relato.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257901" y="7766036"/>
            <a:ext cx="3814649" cy="213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29"/>
              </a:lnSpc>
              <a:spcBef>
                <a:spcPct val="0"/>
              </a:spcBef>
            </a:pPr>
            <a:r>
              <a:rPr lang="en-US" sz="1799">
                <a:solidFill>
                  <a:srgbClr val="001999"/>
                </a:solidFill>
                <a:latin typeface="Barlow"/>
                <a:ea typeface="Barlow"/>
                <a:cs typeface="Barlow"/>
                <a:sym typeface="Barlow"/>
              </a:rPr>
              <a:t>Conve</a:t>
            </a:r>
            <a:r>
              <a:rPr lang="en-US" sz="1799">
                <a:solidFill>
                  <a:srgbClr val="001999"/>
                </a:solidFill>
                <a:latin typeface="Barlow"/>
                <a:ea typeface="Barlow"/>
                <a:cs typeface="Barlow"/>
                <a:sym typeface="Barlow"/>
              </a:rPr>
              <a:t>rtirse en el referente más importante en la industria del doblaje en América Latina y el mundo.</a:t>
            </a:r>
          </a:p>
          <a:p>
            <a:pPr algn="just">
              <a:lnSpc>
                <a:spcPts val="2429"/>
              </a:lnSpc>
              <a:spcBef>
                <a:spcPct val="0"/>
              </a:spcBef>
            </a:pPr>
          </a:p>
          <a:p>
            <a:pPr algn="just">
              <a:lnSpc>
                <a:spcPts val="2429"/>
              </a:lnSpc>
              <a:spcBef>
                <a:spcPct val="0"/>
              </a:spcBef>
            </a:pPr>
            <a:r>
              <a:rPr lang="en-US" sz="1799">
                <a:solidFill>
                  <a:srgbClr val="001999"/>
                </a:solidFill>
                <a:latin typeface="Barlow"/>
                <a:ea typeface="Barlow"/>
                <a:cs typeface="Barlow"/>
                <a:sym typeface="Barlow"/>
              </a:rPr>
              <a:t>Cada paso que dan, cada proyecto que realizan, cada alumno al que capacitan, los acerca a ese sueño.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463049" y="767482"/>
            <a:ext cx="530284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000">
                <a:solidFill>
                  <a:srgbClr val="001999"/>
                </a:solidFill>
                <a:latin typeface="Horizon"/>
                <a:ea typeface="Horizon"/>
                <a:cs typeface="Horizon"/>
                <a:sym typeface="Horizon"/>
              </a:rPr>
              <a:t>quÉ opOrtunidad encontramos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8700" y="8348124"/>
            <a:ext cx="6995563" cy="122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2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Actualmente trabaja con una comunidad formada por alumnos, postulantes y personas ligadas al área vocal y artística, con el fin de formar a personas que trabajen con su voz, conenctando en talento con oportunidades reales.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185778" y="-123481"/>
            <a:ext cx="2016859" cy="3260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34"/>
              </a:lnSpc>
              <a:spcBef>
                <a:spcPct val="0"/>
              </a:spcBef>
            </a:pPr>
            <a:r>
              <a:rPr lang="en-US" sz="18396">
                <a:solidFill>
                  <a:srgbClr val="001999"/>
                </a:solidFill>
                <a:latin typeface="Horizon"/>
                <a:ea typeface="Horizon"/>
                <a:cs typeface="Horizon"/>
                <a:sym typeface="Horizon"/>
              </a:rPr>
              <a:t>¿</a:t>
            </a:r>
          </a:p>
        </p:txBody>
      </p:sp>
      <p:sp>
        <p:nvSpPr>
          <p:cNvPr name="TextBox 44" id="44"/>
          <p:cNvSpPr txBox="true"/>
          <p:nvPr/>
        </p:nvSpPr>
        <p:spPr>
          <a:xfrm rot="-10800000">
            <a:off x="16022665" y="834157"/>
            <a:ext cx="2099770" cy="339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55"/>
              </a:lnSpc>
              <a:spcBef>
                <a:spcPct val="0"/>
              </a:spcBef>
            </a:pPr>
            <a:r>
              <a:rPr lang="en-US" sz="19152">
                <a:solidFill>
                  <a:srgbClr val="001999"/>
                </a:solidFill>
                <a:latin typeface="Horizon"/>
                <a:ea typeface="Horizon"/>
                <a:cs typeface="Horizon"/>
                <a:sym typeface="Horizon"/>
              </a:rPr>
              <a:t>¿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ln w="28575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81659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612779" y="1243013"/>
            <a:ext cx="8827879" cy="0"/>
          </a:xfrm>
          <a:prstGeom prst="line">
            <a:avLst/>
          </a:prstGeom>
          <a:ln cap="flat" w="19050">
            <a:solidFill>
              <a:srgbClr val="FF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035592" y="734753"/>
            <a:ext cx="405067" cy="398833"/>
          </a:xfrm>
          <a:custGeom>
            <a:avLst/>
            <a:gdLst/>
            <a:ahLst/>
            <a:cxnLst/>
            <a:rect r="r" b="b" t="t" l="l"/>
            <a:pathLst>
              <a:path h="398833" w="405067">
                <a:moveTo>
                  <a:pt x="0" y="0"/>
                </a:moveTo>
                <a:lnTo>
                  <a:pt x="405066" y="0"/>
                </a:lnTo>
                <a:lnTo>
                  <a:pt x="405066" y="398833"/>
                </a:lnTo>
                <a:lnTo>
                  <a:pt x="0" y="398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66366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20292" y="6213591"/>
            <a:ext cx="4369226" cy="3313751"/>
            <a:chOff x="0" y="0"/>
            <a:chExt cx="1150743" cy="8727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50743" cy="872758"/>
            </a:xfrm>
            <a:custGeom>
              <a:avLst/>
              <a:gdLst/>
              <a:ahLst/>
              <a:cxnLst/>
              <a:rect r="r" b="b" t="t" l="l"/>
              <a:pathLst>
                <a:path h="872758" w="1150743">
                  <a:moveTo>
                    <a:pt x="0" y="0"/>
                  </a:moveTo>
                  <a:lnTo>
                    <a:pt x="1150743" y="0"/>
                  </a:lnTo>
                  <a:lnTo>
                    <a:pt x="1150743" y="872758"/>
                  </a:lnTo>
                  <a:lnTo>
                    <a:pt x="0" y="872758"/>
                  </a:lnTo>
                  <a:close/>
                </a:path>
              </a:pathLst>
            </a:custGeom>
            <a:solidFill>
              <a:srgbClr val="FF0000"/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150743" cy="891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781665" y="6213591"/>
            <a:ext cx="4369226" cy="3313751"/>
            <a:chOff x="0" y="0"/>
            <a:chExt cx="1150743" cy="8727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0743" cy="872758"/>
            </a:xfrm>
            <a:custGeom>
              <a:avLst/>
              <a:gdLst/>
              <a:ahLst/>
              <a:cxnLst/>
              <a:rect r="r" b="b" t="t" l="l"/>
              <a:pathLst>
                <a:path h="872758" w="1150743">
                  <a:moveTo>
                    <a:pt x="0" y="0"/>
                  </a:moveTo>
                  <a:lnTo>
                    <a:pt x="1150743" y="0"/>
                  </a:lnTo>
                  <a:lnTo>
                    <a:pt x="1150743" y="872758"/>
                  </a:lnTo>
                  <a:lnTo>
                    <a:pt x="0" y="872758"/>
                  </a:lnTo>
                  <a:close/>
                </a:path>
              </a:pathLst>
            </a:custGeom>
            <a:solidFill>
              <a:srgbClr val="FF0000"/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150743" cy="891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348867" y="6213591"/>
            <a:ext cx="5590266" cy="3313751"/>
            <a:chOff x="0" y="0"/>
            <a:chExt cx="1472333" cy="8727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72333" cy="872758"/>
            </a:xfrm>
            <a:custGeom>
              <a:avLst/>
              <a:gdLst/>
              <a:ahLst/>
              <a:cxnLst/>
              <a:rect r="r" b="b" t="t" l="l"/>
              <a:pathLst>
                <a:path h="872758" w="1472333">
                  <a:moveTo>
                    <a:pt x="0" y="0"/>
                  </a:moveTo>
                  <a:lnTo>
                    <a:pt x="1472333" y="0"/>
                  </a:lnTo>
                  <a:lnTo>
                    <a:pt x="1472333" y="872758"/>
                  </a:lnTo>
                  <a:lnTo>
                    <a:pt x="0" y="872758"/>
                  </a:lnTo>
                  <a:close/>
                </a:path>
              </a:pathLst>
            </a:custGeom>
            <a:solidFill>
              <a:srgbClr val="FF0000"/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472333" cy="891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915571">
            <a:off x="5921046" y="-206305"/>
            <a:ext cx="1954511" cy="3918716"/>
          </a:xfrm>
          <a:custGeom>
            <a:avLst/>
            <a:gdLst/>
            <a:ahLst/>
            <a:cxnLst/>
            <a:rect r="r" b="b" t="t" l="l"/>
            <a:pathLst>
              <a:path h="3918716" w="1954511">
                <a:moveTo>
                  <a:pt x="0" y="0"/>
                </a:moveTo>
                <a:lnTo>
                  <a:pt x="1954511" y="0"/>
                </a:lnTo>
                <a:lnTo>
                  <a:pt x="1954511" y="3918716"/>
                </a:lnTo>
                <a:lnTo>
                  <a:pt x="0" y="39187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4362" t="-21985" r="-89395" b="-19542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957091" y="4524782"/>
            <a:ext cx="364630" cy="36463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96186" y="4524782"/>
            <a:ext cx="364630" cy="36463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818465" y="4524782"/>
            <a:ext cx="364630" cy="36463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646434" y="1662121"/>
            <a:ext cx="2699505" cy="2699505"/>
          </a:xfrm>
          <a:custGeom>
            <a:avLst/>
            <a:gdLst/>
            <a:ahLst/>
            <a:cxnLst/>
            <a:rect r="r" b="b" t="t" l="l"/>
            <a:pathLst>
              <a:path h="2699505" w="2699505">
                <a:moveTo>
                  <a:pt x="0" y="0"/>
                </a:moveTo>
                <a:lnTo>
                  <a:pt x="2699505" y="0"/>
                </a:lnTo>
                <a:lnTo>
                  <a:pt x="2699505" y="2699505"/>
                </a:lnTo>
                <a:lnTo>
                  <a:pt x="0" y="26995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82417" y="1662121"/>
            <a:ext cx="3044976" cy="3044976"/>
          </a:xfrm>
          <a:custGeom>
            <a:avLst/>
            <a:gdLst/>
            <a:ahLst/>
            <a:cxnLst/>
            <a:rect r="r" b="b" t="t" l="l"/>
            <a:pathLst>
              <a:path h="3044976" w="3044976">
                <a:moveTo>
                  <a:pt x="0" y="0"/>
                </a:moveTo>
                <a:lnTo>
                  <a:pt x="3044976" y="0"/>
                </a:lnTo>
                <a:lnTo>
                  <a:pt x="3044976" y="3044976"/>
                </a:lnTo>
                <a:lnTo>
                  <a:pt x="0" y="30449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527493" y="1626009"/>
            <a:ext cx="2729757" cy="2771729"/>
          </a:xfrm>
          <a:custGeom>
            <a:avLst/>
            <a:gdLst/>
            <a:ahLst/>
            <a:cxnLst/>
            <a:rect r="r" b="b" t="t" l="l"/>
            <a:pathLst>
              <a:path h="2771729" w="2729757">
                <a:moveTo>
                  <a:pt x="0" y="0"/>
                </a:moveTo>
                <a:lnTo>
                  <a:pt x="2729757" y="0"/>
                </a:lnTo>
                <a:lnTo>
                  <a:pt x="2729757" y="2771729"/>
                </a:lnTo>
                <a:lnTo>
                  <a:pt x="0" y="2771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480" t="-71287" r="-96654" b="-67801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612779" y="634132"/>
            <a:ext cx="654026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  <a:spcBef>
                <a:spcPct val="0"/>
              </a:spcBef>
            </a:pPr>
            <a:r>
              <a:rPr lang="en-US" sz="2999">
                <a:solidFill>
                  <a:srgbClr val="FF0000"/>
                </a:solidFill>
                <a:latin typeface="Horizon"/>
                <a:ea typeface="Horizon"/>
                <a:cs typeface="Horizon"/>
                <a:sym typeface="Horizon"/>
              </a:rPr>
              <a:t>PROBLEMÁTICAS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5299" y="5300226"/>
            <a:ext cx="449139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000">
                <a:solidFill>
                  <a:srgbClr val="FF0000"/>
                </a:solidFill>
                <a:latin typeface="Horizon"/>
                <a:ea typeface="Horizon"/>
                <a:cs typeface="Horizon"/>
                <a:sym typeface="Horizon"/>
              </a:rPr>
              <a:t>PROBLEMA PRINCIPAL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24395" y="5300226"/>
            <a:ext cx="449139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000">
                <a:solidFill>
                  <a:srgbClr val="FF0000"/>
                </a:solidFill>
                <a:latin typeface="Horizon"/>
                <a:ea typeface="Horizon"/>
                <a:cs typeface="Horizon"/>
                <a:sym typeface="Horizon"/>
              </a:rPr>
              <a:t>SITUACIÓN ACTUAL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646673" y="5300226"/>
            <a:ext cx="449139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000">
                <a:solidFill>
                  <a:srgbClr val="FF0000"/>
                </a:solidFill>
                <a:latin typeface="Horizon"/>
                <a:ea typeface="Horizon"/>
                <a:cs typeface="Horizon"/>
                <a:sym typeface="Horizon"/>
              </a:rPr>
              <a:t>CONSECUENCIA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26130" y="7544712"/>
            <a:ext cx="335755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 Gestión ineficiente de Convocatorias y Talento Vocal.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623384" y="6935112"/>
            <a:ext cx="5041232" cy="183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Convocatorias</a:t>
            </a:r>
            <a:r>
              <a:rPr lang="en-US" b="true" sz="17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 publicadas por distintos medios, Postulaciones recibidas de forma dispersa,</a:t>
            </a:r>
          </a:p>
          <a:p>
            <a:pPr algn="ctr">
              <a:lnSpc>
                <a:spcPts val="242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Revisión manual de perfiles y audiciones,</a:t>
            </a:r>
          </a:p>
          <a:p>
            <a:pPr algn="ctr">
              <a:lnSpc>
                <a:spcPts val="242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Poco seguimiento del estado de cada postulante,</a:t>
            </a:r>
          </a:p>
          <a:p>
            <a:pPr algn="ctr">
              <a:lnSpc>
                <a:spcPts val="242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Comunicación fragmentada entre organización y postulantes.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67883" y="7392312"/>
            <a:ext cx="3357550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 Demoras, Desorden, Baja Trazabilidad y Mayor Carga Administrativa.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02902" y="6287213"/>
            <a:ext cx="4204005" cy="3166507"/>
            <a:chOff x="0" y="0"/>
            <a:chExt cx="1107228" cy="83397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7228" cy="833977"/>
            </a:xfrm>
            <a:custGeom>
              <a:avLst/>
              <a:gdLst/>
              <a:ahLst/>
              <a:cxnLst/>
              <a:rect r="r" b="b" t="t" l="l"/>
              <a:pathLst>
                <a:path h="833977" w="1107228">
                  <a:moveTo>
                    <a:pt x="0" y="0"/>
                  </a:moveTo>
                  <a:lnTo>
                    <a:pt x="1107228" y="0"/>
                  </a:lnTo>
                  <a:lnTo>
                    <a:pt x="1107228" y="833977"/>
                  </a:lnTo>
                  <a:lnTo>
                    <a:pt x="0" y="833977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7228" cy="853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864276" y="6287213"/>
            <a:ext cx="4204005" cy="3166507"/>
            <a:chOff x="0" y="0"/>
            <a:chExt cx="1107228" cy="83397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07228" cy="833977"/>
            </a:xfrm>
            <a:custGeom>
              <a:avLst/>
              <a:gdLst/>
              <a:ahLst/>
              <a:cxnLst/>
              <a:rect r="r" b="b" t="t" l="l"/>
              <a:pathLst>
                <a:path h="833977" w="1107228">
                  <a:moveTo>
                    <a:pt x="0" y="0"/>
                  </a:moveTo>
                  <a:lnTo>
                    <a:pt x="1107228" y="0"/>
                  </a:lnTo>
                  <a:lnTo>
                    <a:pt x="1107228" y="833977"/>
                  </a:lnTo>
                  <a:lnTo>
                    <a:pt x="0" y="833977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107228" cy="853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407987" y="6300351"/>
            <a:ext cx="5488353" cy="3166507"/>
            <a:chOff x="0" y="0"/>
            <a:chExt cx="1445492" cy="83397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45492" cy="833977"/>
            </a:xfrm>
            <a:custGeom>
              <a:avLst/>
              <a:gdLst/>
              <a:ahLst/>
              <a:cxnLst/>
              <a:rect r="r" b="b" t="t" l="l"/>
              <a:pathLst>
                <a:path h="833977" w="1445492">
                  <a:moveTo>
                    <a:pt x="0" y="0"/>
                  </a:moveTo>
                  <a:lnTo>
                    <a:pt x="1445492" y="0"/>
                  </a:lnTo>
                  <a:lnTo>
                    <a:pt x="1445492" y="833977"/>
                  </a:lnTo>
                  <a:lnTo>
                    <a:pt x="0" y="833977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445492" cy="853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ln w="28575" cap="sq">
              <a:solidFill>
                <a:srgbClr val="0C3A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81659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18725" y="1019175"/>
            <a:ext cx="8827879" cy="0"/>
          </a:xfrm>
          <a:prstGeom prst="line">
            <a:avLst/>
          </a:prstGeom>
          <a:ln cap="flat" w="19050">
            <a:solidFill>
              <a:srgbClr val="001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741538" y="510916"/>
            <a:ext cx="405067" cy="398833"/>
          </a:xfrm>
          <a:custGeom>
            <a:avLst/>
            <a:gdLst/>
            <a:ahLst/>
            <a:cxnLst/>
            <a:rect r="r" b="b" t="t" l="l"/>
            <a:pathLst>
              <a:path h="398833" w="405067">
                <a:moveTo>
                  <a:pt x="0" y="0"/>
                </a:moveTo>
                <a:lnTo>
                  <a:pt x="405066" y="0"/>
                </a:lnTo>
                <a:lnTo>
                  <a:pt x="405066" y="398832"/>
                </a:lnTo>
                <a:lnTo>
                  <a:pt x="0" y="398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66366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341720" y="9409680"/>
            <a:ext cx="182315" cy="18231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99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18725" y="2101372"/>
            <a:ext cx="17675221" cy="6009575"/>
          </a:xfrm>
          <a:custGeom>
            <a:avLst/>
            <a:gdLst/>
            <a:ahLst/>
            <a:cxnLst/>
            <a:rect r="r" b="b" t="t" l="l"/>
            <a:pathLst>
              <a:path h="6009575" w="17675221">
                <a:moveTo>
                  <a:pt x="0" y="0"/>
                </a:moveTo>
                <a:lnTo>
                  <a:pt x="17675221" y="0"/>
                </a:lnTo>
                <a:lnTo>
                  <a:pt x="17675221" y="6009575"/>
                </a:lnTo>
                <a:lnTo>
                  <a:pt x="0" y="6009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18725" y="1696098"/>
            <a:ext cx="17675221" cy="6820123"/>
            <a:chOff x="0" y="0"/>
            <a:chExt cx="4655202" cy="17962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55202" cy="1796246"/>
            </a:xfrm>
            <a:custGeom>
              <a:avLst/>
              <a:gdLst/>
              <a:ahLst/>
              <a:cxnLst/>
              <a:rect r="r" b="b" t="t" l="l"/>
              <a:pathLst>
                <a:path h="1796246" w="4655202">
                  <a:moveTo>
                    <a:pt x="0" y="0"/>
                  </a:moveTo>
                  <a:lnTo>
                    <a:pt x="4655202" y="0"/>
                  </a:lnTo>
                  <a:lnTo>
                    <a:pt x="4655202" y="1796246"/>
                  </a:lnTo>
                  <a:lnTo>
                    <a:pt x="0" y="1796246"/>
                  </a:lnTo>
                  <a:close/>
                </a:path>
              </a:pathLst>
            </a:custGeom>
            <a:ln w="19050" cap="sq">
              <a:solidFill>
                <a:srgbClr val="00199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655202" cy="1815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18725" y="410294"/>
            <a:ext cx="75543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  <a:spcBef>
                <a:spcPct val="0"/>
              </a:spcBef>
            </a:pPr>
            <a:r>
              <a:rPr lang="en-US" sz="2999">
                <a:solidFill>
                  <a:srgbClr val="001999"/>
                </a:solidFill>
                <a:latin typeface="Horizon"/>
                <a:ea typeface="Horizon"/>
                <a:cs typeface="Horizon"/>
                <a:sym typeface="Horizon"/>
              </a:rPr>
              <a:t>DIAGRAMA DE ISHIKAWA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8725" y="9281763"/>
            <a:ext cx="675681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2000">
                <a:solidFill>
                  <a:srgbClr val="001999"/>
                </a:solidFill>
                <a:latin typeface="Horizon"/>
                <a:ea typeface="Horizon"/>
                <a:cs typeface="Horizon"/>
                <a:sym typeface="Horizon"/>
              </a:rPr>
              <a:t>Anál</a:t>
            </a:r>
            <a:r>
              <a:rPr lang="en-US" sz="2000">
                <a:solidFill>
                  <a:srgbClr val="001999"/>
                </a:solidFill>
                <a:latin typeface="Horizon"/>
                <a:ea typeface="Horizon"/>
                <a:cs typeface="Horizon"/>
                <a:sym typeface="Horizon"/>
              </a:rPr>
              <a:t>isis visual del problema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90217" y="9022682"/>
            <a:ext cx="8005133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29"/>
              </a:lnSpc>
              <a:spcBef>
                <a:spcPct val="0"/>
              </a:spcBef>
            </a:pPr>
            <a:r>
              <a:rPr lang="en-US" sz="1799">
                <a:solidFill>
                  <a:srgbClr val="001999"/>
                </a:solidFill>
                <a:latin typeface="Barlow"/>
                <a:ea typeface="Barlow"/>
                <a:cs typeface="Barlow"/>
                <a:sym typeface="Barlow"/>
              </a:rPr>
              <a:t>El </a:t>
            </a:r>
            <a:r>
              <a:rPr lang="en-US" b="true" sz="1799" i="true">
                <a:solidFill>
                  <a:srgbClr val="001999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di</a:t>
            </a:r>
            <a:r>
              <a:rPr lang="en-US" b="true" sz="1799" i="true">
                <a:solidFill>
                  <a:srgbClr val="001999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agrama de Ishikawa</a:t>
            </a:r>
            <a:r>
              <a:rPr lang="en-US" sz="1799">
                <a:solidFill>
                  <a:srgbClr val="001999"/>
                </a:solidFill>
                <a:latin typeface="Barlow"/>
                <a:ea typeface="Barlow"/>
                <a:cs typeface="Barlow"/>
                <a:sym typeface="Barlow"/>
              </a:rPr>
              <a:t> permite identificar las principales causas que afectan la gestión de convocatorias y talento vocal, agrupándolas en áreas como personas, procesos, tecnología, gestión, información y comunicación.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19175"/>
            <a:ext cx="8827879" cy="0"/>
          </a:xfrm>
          <a:prstGeom prst="line">
            <a:avLst/>
          </a:prstGeom>
          <a:ln cap="flat" w="19050">
            <a:solidFill>
              <a:srgbClr val="FFC7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451513" y="510916"/>
            <a:ext cx="405067" cy="398833"/>
          </a:xfrm>
          <a:custGeom>
            <a:avLst/>
            <a:gdLst/>
            <a:ahLst/>
            <a:cxnLst/>
            <a:rect r="r" b="b" t="t" l="l"/>
            <a:pathLst>
              <a:path h="398833" w="405067">
                <a:moveTo>
                  <a:pt x="0" y="0"/>
                </a:moveTo>
                <a:lnTo>
                  <a:pt x="405066" y="0"/>
                </a:lnTo>
                <a:lnTo>
                  <a:pt x="405066" y="398832"/>
                </a:lnTo>
                <a:lnTo>
                  <a:pt x="0" y="398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66366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6172200"/>
            <a:ext cx="3907585" cy="3086100"/>
            <a:chOff x="0" y="0"/>
            <a:chExt cx="1029158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9158" cy="812800"/>
            </a:xfrm>
            <a:custGeom>
              <a:avLst/>
              <a:gdLst/>
              <a:ahLst/>
              <a:cxnLst/>
              <a:rect r="r" b="b" t="t" l="l"/>
              <a:pathLst>
                <a:path h="812800" w="1029158">
                  <a:moveTo>
                    <a:pt x="0" y="0"/>
                  </a:moveTo>
                  <a:lnTo>
                    <a:pt x="1029158" y="0"/>
                  </a:lnTo>
                  <a:lnTo>
                    <a:pt x="1029158" y="812800"/>
                  </a:lnTo>
                  <a:lnTo>
                    <a:pt x="0" y="812800"/>
                  </a:lnTo>
                  <a:close/>
                </a:path>
              </a:pathLst>
            </a:custGeom>
            <a:ln w="19050" cap="sq">
              <a:solidFill>
                <a:srgbClr val="FFC74C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02915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742609" y="1028700"/>
            <a:ext cx="5516691" cy="8229600"/>
            <a:chOff x="0" y="0"/>
            <a:chExt cx="145295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52955" cy="2167467"/>
            </a:xfrm>
            <a:custGeom>
              <a:avLst/>
              <a:gdLst/>
              <a:ahLst/>
              <a:cxnLst/>
              <a:rect r="r" b="b" t="t" l="l"/>
              <a:pathLst>
                <a:path h="2167467" w="1452955">
                  <a:moveTo>
                    <a:pt x="0" y="0"/>
                  </a:moveTo>
                  <a:lnTo>
                    <a:pt x="1452955" y="0"/>
                  </a:lnTo>
                  <a:lnTo>
                    <a:pt x="145295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C74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452956" cy="2186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830141" y="1184312"/>
            <a:ext cx="5341627" cy="7918376"/>
            <a:chOff x="0" y="0"/>
            <a:chExt cx="1406848" cy="20854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06848" cy="2085498"/>
            </a:xfrm>
            <a:custGeom>
              <a:avLst/>
              <a:gdLst/>
              <a:ahLst/>
              <a:cxnLst/>
              <a:rect r="r" b="b" t="t" l="l"/>
              <a:pathLst>
                <a:path h="2085498" w="1406848">
                  <a:moveTo>
                    <a:pt x="0" y="0"/>
                  </a:moveTo>
                  <a:lnTo>
                    <a:pt x="1406848" y="0"/>
                  </a:lnTo>
                  <a:lnTo>
                    <a:pt x="1406848" y="2085498"/>
                  </a:lnTo>
                  <a:lnTo>
                    <a:pt x="0" y="2085498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406848" cy="2104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92486" y="5143500"/>
            <a:ext cx="4816938" cy="3740086"/>
            <a:chOff x="0" y="0"/>
            <a:chExt cx="1268659" cy="9850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8659" cy="985043"/>
            </a:xfrm>
            <a:custGeom>
              <a:avLst/>
              <a:gdLst/>
              <a:ahLst/>
              <a:cxnLst/>
              <a:rect r="r" b="b" t="t" l="l"/>
              <a:pathLst>
                <a:path h="985043" w="1268659">
                  <a:moveTo>
                    <a:pt x="0" y="0"/>
                  </a:moveTo>
                  <a:lnTo>
                    <a:pt x="1268659" y="0"/>
                  </a:lnTo>
                  <a:lnTo>
                    <a:pt x="1268659" y="985043"/>
                  </a:lnTo>
                  <a:lnTo>
                    <a:pt x="0" y="98504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268659" cy="1004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99350" y="1677550"/>
            <a:ext cx="3166286" cy="3166286"/>
          </a:xfrm>
          <a:custGeom>
            <a:avLst/>
            <a:gdLst/>
            <a:ahLst/>
            <a:cxnLst/>
            <a:rect r="r" b="b" t="t" l="l"/>
            <a:pathLst>
              <a:path h="3166286" w="3166286">
                <a:moveTo>
                  <a:pt x="0" y="0"/>
                </a:moveTo>
                <a:lnTo>
                  <a:pt x="3166285" y="0"/>
                </a:lnTo>
                <a:lnTo>
                  <a:pt x="3166285" y="3166286"/>
                </a:lnTo>
                <a:lnTo>
                  <a:pt x="0" y="31662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376298" y="1702311"/>
            <a:ext cx="4993819" cy="7580750"/>
          </a:xfrm>
          <a:custGeom>
            <a:avLst/>
            <a:gdLst/>
            <a:ahLst/>
            <a:cxnLst/>
            <a:rect r="r" b="b" t="t" l="l"/>
            <a:pathLst>
              <a:path h="7580750" w="4993819">
                <a:moveTo>
                  <a:pt x="0" y="0"/>
                </a:moveTo>
                <a:lnTo>
                  <a:pt x="4993819" y="0"/>
                </a:lnTo>
                <a:lnTo>
                  <a:pt x="4993819" y="7580750"/>
                </a:lnTo>
                <a:lnTo>
                  <a:pt x="0" y="7580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385873"/>
            <a:ext cx="809242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  <a:spcBef>
                <a:spcPct val="0"/>
              </a:spcBef>
            </a:pPr>
            <a:r>
              <a:rPr lang="en-US" sz="2999">
                <a:solidFill>
                  <a:srgbClr val="FFC74C"/>
                </a:solidFill>
                <a:latin typeface="Horizon"/>
                <a:ea typeface="Horizon"/>
                <a:cs typeface="Horizon"/>
                <a:sym typeface="Horizon"/>
              </a:rPr>
              <a:t>OBJETIVO DEL PROYECTO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426011"/>
            <a:ext cx="417170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2000">
                <a:solidFill>
                  <a:srgbClr val="FFC74C"/>
                </a:solidFill>
                <a:latin typeface="Horizon"/>
                <a:ea typeface="Horizon"/>
                <a:cs typeface="Horizon"/>
                <a:sym typeface="Horizon"/>
              </a:rPr>
              <a:t>OBJETIVO GENERAL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18270" y="5316188"/>
            <a:ext cx="4365369" cy="335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430"/>
              </a:lnSpc>
              <a:buFont typeface="Arial"/>
              <a:buChar char="•"/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C</a:t>
            </a: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entralizar la información de postulantes y convocatorias</a:t>
            </a:r>
          </a:p>
          <a:p>
            <a:pPr algn="just" marL="388620" indent="-194310" lvl="1">
              <a:lnSpc>
                <a:spcPts val="2430"/>
              </a:lnSpc>
              <a:buFont typeface="Arial"/>
              <a:buChar char="•"/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Facilitar la búsqueda y gestión de talento vocal</a:t>
            </a:r>
          </a:p>
          <a:p>
            <a:pPr algn="just" marL="388620" indent="-194310" lvl="1">
              <a:lnSpc>
                <a:spcPts val="2430"/>
              </a:lnSpc>
              <a:buFont typeface="Arial"/>
              <a:buChar char="•"/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Optimizar el proceso de postulación</a:t>
            </a:r>
          </a:p>
          <a:p>
            <a:pPr algn="just" marL="388620" indent="-194310" lvl="1">
              <a:lnSpc>
                <a:spcPts val="2430"/>
              </a:lnSpc>
              <a:buFont typeface="Arial"/>
              <a:buChar char="•"/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Mejorar la organización interna del cliente</a:t>
            </a:r>
          </a:p>
          <a:p>
            <a:pPr algn="just" marL="388620" indent="-194310" lvl="1">
              <a:lnSpc>
                <a:spcPts val="2430"/>
              </a:lnSpc>
              <a:buFont typeface="Arial"/>
              <a:buChar char="•"/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Permitir el seguimiento del estado de cada postulante</a:t>
            </a:r>
          </a:p>
          <a:p>
            <a:pPr algn="just" marL="388620" indent="-194310" lvl="1">
              <a:lnSpc>
                <a:spcPts val="2430"/>
              </a:lnSpc>
              <a:buFont typeface="Arial"/>
              <a:buChar char="•"/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Mejorar la comunicación entre la organización y los postulantes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32365" y="1798347"/>
            <a:ext cx="493718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OBJETIVOS ESPECÍFICOS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ln w="28575" cap="sq">
              <a:solidFill>
                <a:srgbClr val="FFC74C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481659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408886" y="6932295"/>
            <a:ext cx="3147212" cy="152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Desarrollar una plataforma web que permita centralizar la gestión de convocatorias, postulaciones y talento vocal para Sudamerican Voices.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ln w="28575" cap="sq">
              <a:solidFill>
                <a:srgbClr val="2AD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81659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46331" y="415518"/>
            <a:ext cx="4564538" cy="7593281"/>
            <a:chOff x="0" y="0"/>
            <a:chExt cx="1202183" cy="19998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02183" cy="1999876"/>
            </a:xfrm>
            <a:custGeom>
              <a:avLst/>
              <a:gdLst/>
              <a:ahLst/>
              <a:cxnLst/>
              <a:rect r="r" b="b" t="t" l="l"/>
              <a:pathLst>
                <a:path h="1999876" w="1202183">
                  <a:moveTo>
                    <a:pt x="0" y="0"/>
                  </a:moveTo>
                  <a:lnTo>
                    <a:pt x="1202183" y="0"/>
                  </a:lnTo>
                  <a:lnTo>
                    <a:pt x="1202183" y="1999876"/>
                  </a:lnTo>
                  <a:lnTo>
                    <a:pt x="0" y="1999876"/>
                  </a:lnTo>
                  <a:close/>
                </a:path>
              </a:pathLst>
            </a:custGeom>
            <a:ln w="19050" cap="sq">
              <a:solidFill>
                <a:srgbClr val="2AD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202183" cy="2018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612779" y="9639447"/>
            <a:ext cx="8827879" cy="0"/>
          </a:xfrm>
          <a:prstGeom prst="line">
            <a:avLst/>
          </a:prstGeom>
          <a:ln cap="flat" w="19050">
            <a:solidFill>
              <a:srgbClr val="2AD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035592" y="9131188"/>
            <a:ext cx="405067" cy="398833"/>
          </a:xfrm>
          <a:custGeom>
            <a:avLst/>
            <a:gdLst/>
            <a:ahLst/>
            <a:cxnLst/>
            <a:rect r="r" b="b" t="t" l="l"/>
            <a:pathLst>
              <a:path h="398833" w="405067">
                <a:moveTo>
                  <a:pt x="0" y="0"/>
                </a:moveTo>
                <a:lnTo>
                  <a:pt x="405066" y="0"/>
                </a:lnTo>
                <a:lnTo>
                  <a:pt x="405066" y="398833"/>
                </a:lnTo>
                <a:lnTo>
                  <a:pt x="0" y="398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66366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55054" y="686028"/>
            <a:ext cx="3086100" cy="581934"/>
            <a:chOff x="0" y="0"/>
            <a:chExt cx="812800" cy="1532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153267"/>
            </a:xfrm>
            <a:custGeom>
              <a:avLst/>
              <a:gdLst/>
              <a:ahLst/>
              <a:cxnLst/>
              <a:rect r="r" b="b" t="t" l="l"/>
              <a:pathLst>
                <a:path h="15326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53267"/>
                  </a:lnTo>
                  <a:lnTo>
                    <a:pt x="0" y="153267"/>
                  </a:lnTo>
                  <a:close/>
                </a:path>
              </a:pathLst>
            </a:custGeom>
            <a:ln w="19050" cap="sq">
              <a:solidFill>
                <a:srgbClr val="2AD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812800" cy="172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11658544" y="4206856"/>
            <a:ext cx="6863663" cy="0"/>
          </a:xfrm>
          <a:prstGeom prst="line">
            <a:avLst/>
          </a:prstGeom>
          <a:ln cap="flat" w="19050">
            <a:solidFill>
              <a:srgbClr val="2AD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1658544" y="6594380"/>
            <a:ext cx="6629456" cy="0"/>
          </a:xfrm>
          <a:prstGeom prst="line">
            <a:avLst/>
          </a:prstGeom>
          <a:ln cap="flat" w="19050">
            <a:solidFill>
              <a:srgbClr val="2AD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1658544" y="-28159"/>
            <a:ext cx="0" cy="10315159"/>
          </a:xfrm>
          <a:prstGeom prst="line">
            <a:avLst/>
          </a:prstGeom>
          <a:ln cap="flat" w="19050">
            <a:solidFill>
              <a:srgbClr val="2AD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1658544" y="4206856"/>
            <a:ext cx="6629456" cy="2387523"/>
            <a:chOff x="0" y="0"/>
            <a:chExt cx="1027076" cy="3698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7076" cy="369890"/>
            </a:xfrm>
            <a:custGeom>
              <a:avLst/>
              <a:gdLst/>
              <a:ahLst/>
              <a:cxnLst/>
              <a:rect r="r" b="b" t="t" l="l"/>
              <a:pathLst>
                <a:path h="369890" w="1027076">
                  <a:moveTo>
                    <a:pt x="0" y="0"/>
                  </a:moveTo>
                  <a:lnTo>
                    <a:pt x="1027076" y="0"/>
                  </a:lnTo>
                  <a:lnTo>
                    <a:pt x="1027076" y="369890"/>
                  </a:lnTo>
                  <a:lnTo>
                    <a:pt x="0" y="369890"/>
                  </a:lnTo>
                  <a:close/>
                </a:path>
              </a:pathLst>
            </a:custGeom>
            <a:blipFill>
              <a:blip r:embed="rId3"/>
              <a:stretch>
                <a:fillRect l="0" t="-28094" r="0" b="-28094"/>
              </a:stretch>
            </a:blipFill>
            <a:ln w="19050" cap="sq">
              <a:solidFill>
                <a:srgbClr val="2AD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492542" y="658837"/>
            <a:ext cx="3086100" cy="581934"/>
            <a:chOff x="0" y="0"/>
            <a:chExt cx="4114800" cy="77591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4114800" cy="775912"/>
              <a:chOff x="0" y="0"/>
              <a:chExt cx="812800" cy="15326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153267"/>
              </a:xfrm>
              <a:custGeom>
                <a:avLst/>
                <a:gdLst/>
                <a:ahLst/>
                <a:cxnLst/>
                <a:rect r="r" b="b" t="t" l="l"/>
                <a:pathLst>
                  <a:path h="153267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3267"/>
                    </a:lnTo>
                    <a:lnTo>
                      <a:pt x="0" y="153267"/>
                    </a:lnTo>
                    <a:close/>
                  </a:path>
                </a:pathLst>
              </a:custGeom>
              <a:solidFill>
                <a:srgbClr val="2AD000"/>
              </a:solidFill>
              <a:ln w="19050" cap="sq">
                <a:solidFill>
                  <a:srgbClr val="2AD000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812800" cy="1723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5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675781" y="169496"/>
              <a:ext cx="2763237" cy="3988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7"/>
                </a:lnSpc>
                <a:spcBef>
                  <a:spcPct val="0"/>
                </a:spcBef>
              </a:pPr>
              <a:r>
                <a:rPr lang="en-US" b="true" sz="1798" i="true">
                  <a:solidFill>
                    <a:srgbClr val="FFFFFF"/>
                  </a:solidFill>
                  <a:latin typeface="Barlow Bold Italics"/>
                  <a:ea typeface="Barlow Bold Italics"/>
                  <a:cs typeface="Barlow Bold Italics"/>
                  <a:sym typeface="Barlow Bold Italics"/>
                </a:rPr>
                <a:t>SITUACIÓN ACTUAL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555054" y="4122274"/>
            <a:ext cx="5653127" cy="3886525"/>
          </a:xfrm>
          <a:custGeom>
            <a:avLst/>
            <a:gdLst/>
            <a:ahLst/>
            <a:cxnLst/>
            <a:rect r="r" b="b" t="t" l="l"/>
            <a:pathLst>
              <a:path h="3886525" w="5653127">
                <a:moveTo>
                  <a:pt x="0" y="0"/>
                </a:moveTo>
                <a:lnTo>
                  <a:pt x="5653127" y="0"/>
                </a:lnTo>
                <a:lnTo>
                  <a:pt x="5653127" y="3886525"/>
                </a:lnTo>
                <a:lnTo>
                  <a:pt x="0" y="38865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12779" y="8578738"/>
            <a:ext cx="809242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  <a:spcBef>
                <a:spcPct val="0"/>
              </a:spcBef>
            </a:pPr>
            <a:r>
              <a:rPr lang="en-US" sz="2999">
                <a:solidFill>
                  <a:srgbClr val="2AD000"/>
                </a:solidFill>
                <a:latin typeface="Horizon"/>
                <a:ea typeface="Horizon"/>
                <a:cs typeface="Horizon"/>
                <a:sym typeface="Horizon"/>
              </a:rPr>
              <a:t>propuesta de solución preliminar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03233" y="377418"/>
            <a:ext cx="2518728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b="true" sz="1800" i="true">
                <a:solidFill>
                  <a:srgbClr val="2AD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FUNCIONES PRINCIPALES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03233" y="1202671"/>
            <a:ext cx="3785422" cy="244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</a:t>
            </a:r>
            <a:r>
              <a:rPr lang="en-US" sz="1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egistro e  Inicio de Sesión</a:t>
            </a:r>
          </a:p>
          <a:p>
            <a:pPr algn="l" marL="388620" indent="-194310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Perfil de Talento</a:t>
            </a:r>
          </a:p>
          <a:p>
            <a:pPr algn="l" marL="388620" indent="-194310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Publicación de Convocatorias</a:t>
            </a:r>
          </a:p>
          <a:p>
            <a:pPr algn="l" marL="388620" indent="-194310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Postulación a Oportunidades</a:t>
            </a:r>
          </a:p>
          <a:p>
            <a:pPr algn="l" marL="388620" indent="-194310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Gestión de Audiciones</a:t>
            </a:r>
          </a:p>
          <a:p>
            <a:pPr algn="l" marL="388620" indent="-194310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Búsqueda y Filtrado de Talentos</a:t>
            </a:r>
          </a:p>
          <a:p>
            <a:pPr algn="l" marL="388620" indent="-194310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Notificaciones</a:t>
            </a:r>
          </a:p>
          <a:p>
            <a:pPr algn="l" marL="388620" indent="-194310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Historial del Postulante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03233" y="8107594"/>
            <a:ext cx="4250373" cy="122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</a:t>
            </a:r>
            <a:r>
              <a:rPr lang="en-US" sz="1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entralización del Proceso</a:t>
            </a:r>
          </a:p>
          <a:p>
            <a:pPr algn="l" marL="388620" indent="-194310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Reducción deTiempos Administrativos</a:t>
            </a:r>
          </a:p>
          <a:p>
            <a:pPr algn="l" marL="388620" indent="-194310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Mejor Seguimiento</a:t>
            </a:r>
          </a:p>
          <a:p>
            <a:pPr algn="l" marL="388620" indent="-194310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Mejor Organización de Perfiles y Demos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5286" y="820094"/>
            <a:ext cx="1476566" cy="30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  <a:spcBef>
                <a:spcPct val="0"/>
              </a:spcBef>
            </a:pPr>
            <a:r>
              <a:rPr lang="en-US" b="true" sz="1798" i="true">
                <a:solidFill>
                  <a:srgbClr val="000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PROPUESTA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12779" y="2173202"/>
            <a:ext cx="5601476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2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Desarrollar una plataforma web para centralizar la gestión de convocatorias y talento vocal en Sudamerican Voices.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03233" y="7118255"/>
            <a:ext cx="1792923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b="true" sz="1800" i="true">
                <a:solidFill>
                  <a:srgbClr val="2AD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VALOR ESPERADO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68752" y="1355071"/>
            <a:ext cx="3919696" cy="640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Convocatorias dispersas</a:t>
            </a:r>
          </a:p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 </a:t>
            </a:r>
            <a:r>
              <a:rPr lang="en-US" b="true" sz="1800" i="true">
                <a:solidFill>
                  <a:srgbClr val="2AD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↓</a:t>
            </a:r>
          </a:p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 Postulaciones por distintos medios</a:t>
            </a:r>
          </a:p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 </a:t>
            </a:r>
            <a:r>
              <a:rPr lang="en-US" b="true" sz="1800" i="true">
                <a:solidFill>
                  <a:srgbClr val="2AD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↓</a:t>
            </a:r>
          </a:p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 Revisión manual de perfiles y audiciones</a:t>
            </a:r>
          </a:p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 </a:t>
            </a:r>
            <a:r>
              <a:rPr lang="en-US" b="true" sz="1800" i="true">
                <a:solidFill>
                  <a:srgbClr val="2AD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↓</a:t>
            </a:r>
          </a:p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 Seguimiento limitado</a:t>
            </a:r>
          </a:p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 </a:t>
            </a:r>
            <a:r>
              <a:rPr lang="en-US" b="true" sz="1800" i="true">
                <a:solidFill>
                  <a:srgbClr val="2AD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↓</a:t>
            </a:r>
          </a:p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 Desorden y baja trazabilidad</a:t>
            </a:r>
          </a:p>
          <a:p>
            <a:pPr algn="ctr">
              <a:lnSpc>
                <a:spcPts val="2430"/>
              </a:lnSpc>
              <a:spcBef>
                <a:spcPct val="0"/>
              </a:spcBef>
            </a:pPr>
          </a:p>
          <a:p>
            <a:pPr algn="ctr">
              <a:lnSpc>
                <a:spcPts val="2430"/>
              </a:lnSpc>
              <a:spcBef>
                <a:spcPct val="0"/>
              </a:spcBef>
            </a:pPr>
          </a:p>
          <a:p>
            <a:pPr algn="ctr">
              <a:lnSpc>
                <a:spcPts val="2430"/>
              </a:lnSpc>
              <a:spcBef>
                <a:spcPct val="0"/>
              </a:spcBef>
            </a:pPr>
          </a:p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Plataforma web centralizada</a:t>
            </a:r>
          </a:p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 </a:t>
            </a:r>
            <a:r>
              <a:rPr lang="en-US" b="true" sz="1800" i="true">
                <a:solidFill>
                  <a:srgbClr val="2AD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↓</a:t>
            </a:r>
          </a:p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 Módulo de convocatorias</a:t>
            </a:r>
          </a:p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 </a:t>
            </a:r>
            <a:r>
              <a:rPr lang="en-US" b="true" sz="1800" i="true">
                <a:solidFill>
                  <a:srgbClr val="2AD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↓</a:t>
            </a:r>
          </a:p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 Módulo de postulaciones</a:t>
            </a:r>
          </a:p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 </a:t>
            </a:r>
            <a:r>
              <a:rPr lang="en-US" b="true" sz="1800" i="true">
                <a:solidFill>
                  <a:srgbClr val="2AD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↓</a:t>
            </a:r>
          </a:p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 Gestión de audiciones y talento vocal</a:t>
            </a:r>
          </a:p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 </a:t>
            </a:r>
            <a:r>
              <a:rPr lang="en-US" b="true" sz="1800" i="true">
                <a:solidFill>
                  <a:srgbClr val="2AD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↓</a:t>
            </a:r>
          </a:p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 Seguimiento y organizanión del proceso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385550" y="4298723"/>
            <a:ext cx="3086100" cy="555406"/>
            <a:chOff x="0" y="0"/>
            <a:chExt cx="4114800" cy="740541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4114800" cy="740541"/>
              <a:chOff x="0" y="0"/>
              <a:chExt cx="812800" cy="14628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146280"/>
              </a:xfrm>
              <a:custGeom>
                <a:avLst/>
                <a:gdLst/>
                <a:ahLst/>
                <a:cxnLst/>
                <a:rect r="r" b="b" t="t" l="l"/>
                <a:pathLst>
                  <a:path h="14628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6280"/>
                    </a:lnTo>
                    <a:lnTo>
                      <a:pt x="0" y="146280"/>
                    </a:lnTo>
                    <a:close/>
                  </a:path>
                </a:pathLst>
              </a:custGeom>
              <a:solidFill>
                <a:srgbClr val="2AD000"/>
              </a:solidFill>
              <a:ln w="19050" cap="sq">
                <a:solidFill>
                  <a:srgbClr val="2AD000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19050"/>
                <a:ext cx="812800" cy="1653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5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295796" y="169496"/>
              <a:ext cx="3819004" cy="3988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7"/>
                </a:lnSpc>
                <a:spcBef>
                  <a:spcPct val="0"/>
                </a:spcBef>
              </a:pPr>
              <a:r>
                <a:rPr lang="en-US" b="true" sz="1798" i="true">
                  <a:solidFill>
                    <a:srgbClr val="FFFFFF"/>
                  </a:solidFill>
                  <a:latin typeface="Barlow Bold Italics"/>
                  <a:ea typeface="Barlow Bold Italics"/>
                  <a:cs typeface="Barlow Bold Italics"/>
                  <a:sym typeface="Barlow Bold Italics"/>
                </a:rPr>
                <a:t>SOLUCION PRELIMINAR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19175"/>
            <a:ext cx="8827879" cy="0"/>
          </a:xfrm>
          <a:prstGeom prst="line">
            <a:avLst/>
          </a:prstGeom>
          <a:ln cap="flat" w="19050">
            <a:solidFill>
              <a:srgbClr val="FF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451513" y="510916"/>
            <a:ext cx="405067" cy="398833"/>
          </a:xfrm>
          <a:custGeom>
            <a:avLst/>
            <a:gdLst/>
            <a:ahLst/>
            <a:cxnLst/>
            <a:rect r="r" b="b" t="t" l="l"/>
            <a:pathLst>
              <a:path h="398833" w="405067">
                <a:moveTo>
                  <a:pt x="0" y="0"/>
                </a:moveTo>
                <a:lnTo>
                  <a:pt x="405066" y="0"/>
                </a:lnTo>
                <a:lnTo>
                  <a:pt x="405066" y="398832"/>
                </a:lnTo>
                <a:lnTo>
                  <a:pt x="0" y="398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66366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7535989"/>
            <a:ext cx="8827879" cy="2289313"/>
            <a:chOff x="0" y="0"/>
            <a:chExt cx="2325038" cy="6029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5038" cy="602947"/>
            </a:xfrm>
            <a:custGeom>
              <a:avLst/>
              <a:gdLst/>
              <a:ahLst/>
              <a:cxnLst/>
              <a:rect r="r" b="b" t="t" l="l"/>
              <a:pathLst>
                <a:path h="602947" w="2325038">
                  <a:moveTo>
                    <a:pt x="0" y="0"/>
                  </a:moveTo>
                  <a:lnTo>
                    <a:pt x="2325038" y="0"/>
                  </a:lnTo>
                  <a:lnTo>
                    <a:pt x="2325038" y="602947"/>
                  </a:lnTo>
                  <a:lnTo>
                    <a:pt x="0" y="602947"/>
                  </a:lnTo>
                  <a:close/>
                </a:path>
              </a:pathLst>
            </a:custGeom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5038" cy="621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385873"/>
            <a:ext cx="809242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  <a:spcBef>
                <a:spcPct val="0"/>
              </a:spcBef>
            </a:pPr>
            <a:r>
              <a:rPr lang="en-US" sz="2999">
                <a:solidFill>
                  <a:srgbClr val="FF0000"/>
                </a:solidFill>
                <a:latin typeface="Horizon"/>
                <a:ea typeface="Horizon"/>
                <a:cs typeface="Horizon"/>
                <a:sym typeface="Horizon"/>
              </a:rPr>
              <a:t>CONCLUSIÓN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859578"/>
            <a:ext cx="8827879" cy="613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0"/>
              </a:lnSpc>
              <a:spcBef>
                <a:spcPct val="0"/>
              </a:spcBef>
            </a:pPr>
            <a:r>
              <a:rPr lang="en-US" sz="18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SUDTALENT surge como una solución digital orientada a mejorar la gestión de convocatorias, postulaciones y talento vocal en Sudamerican Voices.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51369" y="3658949"/>
            <a:ext cx="3354864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b="true" sz="1800" i="true">
                <a:solidFill>
                  <a:srgbClr val="FF0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CUÁLES FUERON LOS PRINCIPALES APORTES DEL PROYECTO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51369" y="4969556"/>
            <a:ext cx="3164180" cy="183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1"/>
              </a:lnSpc>
            </a:pPr>
            <a:r>
              <a:rPr lang="en-US" sz="1779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Centralización de procesos actualmente dispersos, Reducción de tiempos administrativos, Mejor seguimiento de postulantes y Mayor organización interna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90417" y="8552059"/>
            <a:ext cx="4504445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0"/>
              </a:lnSpc>
              <a:spcBef>
                <a:spcPct val="0"/>
              </a:spcBef>
            </a:pPr>
            <a:r>
              <a:rPr lang="en-US" sz="18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El proyecto responde a una necesidad real del cliente y entrega una base sólida para optimizar su ecosistema de trabajo.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65208" y="7852924"/>
            <a:ext cx="3354864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b="true" sz="1800" i="true">
                <a:solidFill>
                  <a:srgbClr val="FF0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IMPACTO ESPERADO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4510" y="2745005"/>
            <a:ext cx="2016859" cy="3260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34"/>
              </a:lnSpc>
              <a:spcBef>
                <a:spcPct val="0"/>
              </a:spcBef>
            </a:pPr>
            <a:r>
              <a:rPr lang="en-US" sz="18396">
                <a:solidFill>
                  <a:srgbClr val="FF0000"/>
                </a:solidFill>
                <a:latin typeface="Horizon"/>
                <a:ea typeface="Horizon"/>
                <a:cs typeface="Horizon"/>
                <a:sym typeface="Horizon"/>
              </a:rPr>
              <a:t>¿</a:t>
            </a:r>
          </a:p>
        </p:txBody>
      </p:sp>
      <p:sp>
        <p:nvSpPr>
          <p:cNvPr name="TextBox 14" id="14"/>
          <p:cNvSpPr txBox="true"/>
          <p:nvPr/>
        </p:nvSpPr>
        <p:spPr>
          <a:xfrm rot="-10800000">
            <a:off x="6615549" y="3365080"/>
            <a:ext cx="2099770" cy="339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55"/>
              </a:lnSpc>
              <a:spcBef>
                <a:spcPct val="0"/>
              </a:spcBef>
            </a:pPr>
            <a:r>
              <a:rPr lang="en-US" sz="19152">
                <a:solidFill>
                  <a:srgbClr val="FF0000"/>
                </a:solidFill>
                <a:latin typeface="Horizon"/>
                <a:ea typeface="Horizon"/>
                <a:cs typeface="Horizon"/>
                <a:sym typeface="Horizon"/>
              </a:rPr>
              <a:t>¿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828375" y="0"/>
            <a:ext cx="7459625" cy="10256062"/>
            <a:chOff x="0" y="0"/>
            <a:chExt cx="59118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1180" cy="812800"/>
            </a:xfrm>
            <a:custGeom>
              <a:avLst/>
              <a:gdLst/>
              <a:ahLst/>
              <a:cxnLst/>
              <a:rect r="r" b="b" t="t" l="l"/>
              <a:pathLst>
                <a:path h="812800" w="591180">
                  <a:moveTo>
                    <a:pt x="0" y="0"/>
                  </a:moveTo>
                  <a:lnTo>
                    <a:pt x="591180" y="0"/>
                  </a:lnTo>
                  <a:lnTo>
                    <a:pt x="59118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3276" t="0" r="-3276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ln w="28575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81659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539" y="0"/>
            <a:ext cx="6841254" cy="10287000"/>
            <a:chOff x="0" y="0"/>
            <a:chExt cx="1059889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9889" cy="1593725"/>
            </a:xfrm>
            <a:custGeom>
              <a:avLst/>
              <a:gdLst/>
              <a:ahLst/>
              <a:cxnLst/>
              <a:rect r="r" b="b" t="t" l="l"/>
              <a:pathLst>
                <a:path h="1593725" w="1059889">
                  <a:moveTo>
                    <a:pt x="0" y="0"/>
                  </a:moveTo>
                  <a:lnTo>
                    <a:pt x="1059889" y="0"/>
                  </a:lnTo>
                  <a:lnTo>
                    <a:pt x="105988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09704" t="0" r="-1598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742911" y="174231"/>
            <a:ext cx="2403634" cy="600908"/>
          </a:xfrm>
          <a:custGeom>
            <a:avLst/>
            <a:gdLst/>
            <a:ahLst/>
            <a:cxnLst/>
            <a:rect r="r" b="b" t="t" l="l"/>
            <a:pathLst>
              <a:path h="600908" w="2403634">
                <a:moveTo>
                  <a:pt x="0" y="0"/>
                </a:moveTo>
                <a:lnTo>
                  <a:pt x="2403634" y="0"/>
                </a:lnTo>
                <a:lnTo>
                  <a:pt x="2403634" y="600908"/>
                </a:lnTo>
                <a:lnTo>
                  <a:pt x="0" y="600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62540" y="4168817"/>
            <a:ext cx="2974860" cy="2929076"/>
          </a:xfrm>
          <a:custGeom>
            <a:avLst/>
            <a:gdLst/>
            <a:ahLst/>
            <a:cxnLst/>
            <a:rect r="r" b="b" t="t" l="l"/>
            <a:pathLst>
              <a:path h="2929076" w="2974860">
                <a:moveTo>
                  <a:pt x="0" y="0"/>
                </a:moveTo>
                <a:lnTo>
                  <a:pt x="2974860" y="0"/>
                </a:lnTo>
                <a:lnTo>
                  <a:pt x="2974860" y="2929076"/>
                </a:lnTo>
                <a:lnTo>
                  <a:pt x="0" y="2929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66366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7215182" y="1717904"/>
            <a:ext cx="3117018" cy="0"/>
          </a:xfrm>
          <a:prstGeom prst="line">
            <a:avLst/>
          </a:pr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4921535" y="1698854"/>
            <a:ext cx="3023898" cy="0"/>
          </a:xfrm>
          <a:prstGeom prst="line">
            <a:avLst/>
          </a:pr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0773069" y="3756454"/>
            <a:ext cx="3753802" cy="375380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40616" y="82374"/>
                  </a:lnTo>
                  <a:lnTo>
                    <a:pt x="693768" y="119032"/>
                  </a:lnTo>
                  <a:lnTo>
                    <a:pt x="730427" y="272184"/>
                  </a:lnTo>
                  <a:lnTo>
                    <a:pt x="812800" y="406400"/>
                  </a:lnTo>
                  <a:lnTo>
                    <a:pt x="730427" y="540616"/>
                  </a:lnTo>
                  <a:lnTo>
                    <a:pt x="693768" y="693768"/>
                  </a:lnTo>
                  <a:lnTo>
                    <a:pt x="540616" y="730427"/>
                  </a:lnTo>
                  <a:lnTo>
                    <a:pt x="406400" y="812800"/>
                  </a:lnTo>
                  <a:lnTo>
                    <a:pt x="272184" y="730427"/>
                  </a:lnTo>
                  <a:lnTo>
                    <a:pt x="119032" y="693768"/>
                  </a:lnTo>
                  <a:lnTo>
                    <a:pt x="82374" y="540616"/>
                  </a:lnTo>
                  <a:lnTo>
                    <a:pt x="0" y="406400"/>
                  </a:lnTo>
                  <a:lnTo>
                    <a:pt x="82374" y="272184"/>
                  </a:lnTo>
                  <a:lnTo>
                    <a:pt x="119032" y="119032"/>
                  </a:lnTo>
                  <a:lnTo>
                    <a:pt x="272184" y="82374"/>
                  </a:lnTo>
                  <a:lnTo>
                    <a:pt x="406400" y="0"/>
                  </a:lnTo>
                  <a:close/>
                </a:path>
              </a:pathLst>
            </a:custGeom>
            <a:ln w="1905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120650"/>
              <a:ext cx="5334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526742" y="9119449"/>
            <a:ext cx="119859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b="true" sz="1500" i="true">
                <a:solidFill>
                  <a:srgbClr val="000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Integrantes: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26742" y="9665422"/>
            <a:ext cx="119859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Ricardo Frías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26742" y="9913720"/>
            <a:ext cx="119859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Pablo Novoa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744577" y="9117764"/>
            <a:ext cx="1421880" cy="784422"/>
            <a:chOff x="0" y="0"/>
            <a:chExt cx="1895840" cy="104589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19050"/>
              <a:ext cx="1317052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b="true" sz="1500" i="true">
                  <a:solidFill>
                    <a:srgbClr val="000000"/>
                  </a:solidFill>
                  <a:latin typeface="Barlow Bold Italics"/>
                  <a:ea typeface="Barlow Bold Italics"/>
                  <a:cs typeface="Barlow Bold Italics"/>
                  <a:sym typeface="Barlow Bold Italics"/>
                </a:rPr>
                <a:t>Docente: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722046"/>
              <a:ext cx="189584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000000"/>
                  </a:solidFill>
                  <a:latin typeface="Barlow"/>
                  <a:ea typeface="Barlow"/>
                  <a:cs typeface="Barlow"/>
                  <a:sym typeface="Barlow"/>
                </a:rPr>
                <a:t>Arturo Vargas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665953" y="9119449"/>
            <a:ext cx="127947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  <a:spcBef>
                <a:spcPct val="0"/>
              </a:spcBef>
            </a:pPr>
            <a:r>
              <a:rPr lang="en-US" b="true" sz="1500" i="true">
                <a:solidFill>
                  <a:srgbClr val="000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F</a:t>
            </a:r>
            <a:r>
              <a:rPr lang="en-US" b="true" sz="1500" i="true">
                <a:solidFill>
                  <a:srgbClr val="000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echa: </a:t>
            </a:r>
          </a:p>
          <a:p>
            <a:pPr algn="l">
              <a:lnSpc>
                <a:spcPts val="2025"/>
              </a:lnSpc>
              <a:spcBef>
                <a:spcPct val="0"/>
              </a:spcBef>
            </a:pPr>
          </a:p>
          <a:p>
            <a:pPr algn="l">
              <a:lnSpc>
                <a:spcPts val="202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06.04.2026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62890" y="9119449"/>
            <a:ext cx="190357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  <a:spcBef>
                <a:spcPct val="0"/>
              </a:spcBef>
            </a:pPr>
            <a:r>
              <a:rPr lang="en-US" b="true" sz="1500" i="true">
                <a:solidFill>
                  <a:srgbClr val="000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Asignatura: </a:t>
            </a:r>
          </a:p>
          <a:p>
            <a:pPr algn="l">
              <a:lnSpc>
                <a:spcPts val="2025"/>
              </a:lnSpc>
              <a:spcBef>
                <a:spcPct val="0"/>
              </a:spcBef>
            </a:pPr>
          </a:p>
          <a:p>
            <a:pPr algn="l">
              <a:lnSpc>
                <a:spcPts val="202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Taller de Programación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13331" y="9119449"/>
            <a:ext cx="762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  <a:spcBef>
                <a:spcPct val="0"/>
              </a:spcBef>
            </a:pPr>
            <a:r>
              <a:rPr lang="en-US" b="true" sz="1500" i="true">
                <a:solidFill>
                  <a:srgbClr val="000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Sección</a:t>
            </a:r>
            <a:r>
              <a:rPr lang="en-US" b="true" sz="1500" i="true">
                <a:solidFill>
                  <a:srgbClr val="000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: </a:t>
            </a:r>
          </a:p>
          <a:p>
            <a:pPr algn="l">
              <a:lnSpc>
                <a:spcPts val="2025"/>
              </a:lnSpc>
              <a:spcBef>
                <a:spcPct val="0"/>
              </a:spcBef>
            </a:pPr>
          </a:p>
          <a:p>
            <a:pPr algn="l">
              <a:lnSpc>
                <a:spcPts val="202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001D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44115" y="2251304"/>
            <a:ext cx="1022960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50"/>
              </a:lnSpc>
            </a:pPr>
            <a:r>
              <a:rPr lang="en-US" sz="50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SudTalent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93041" y="3013304"/>
            <a:ext cx="702611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Pla</a:t>
            </a:r>
            <a:r>
              <a:rPr lang="en-US" sz="2000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taforma digital para la gestión de convocatorias y talento vocal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45004" y="1498829"/>
            <a:ext cx="416372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Proyecto de título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77607" y="7642234"/>
            <a:ext cx="454472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SUDAMERICAN VOICES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DAHF8eehqf0</dc:identifier>
  <dcterms:modified xsi:type="dcterms:W3CDTF">2011-08-01T06:04:30Z</dcterms:modified>
  <cp:revision>1</cp:revision>
  <dc:title>Presentacion SUDTALENT</dc:title>
</cp:coreProperties>
</file>